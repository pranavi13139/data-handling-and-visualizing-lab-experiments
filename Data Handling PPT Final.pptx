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71" r:id="rId7"/>
    <p:sldId id="273" r:id="rId8"/>
    <p:sldId id="272" r:id="rId9"/>
    <p:sldId id="274" r:id="rId10"/>
    <p:sldId id="260" r:id="rId11"/>
    <p:sldId id="262" r:id="rId12"/>
    <p:sldId id="269" r:id="rId13"/>
    <p:sldId id="270" r:id="rId14"/>
    <p:sldId id="263" r:id="rId15"/>
    <p:sldId id="265" r:id="rId16"/>
    <p:sldId id="264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40316-B076-4F16-A776-7C06A74D9E88}" v="33" dt="2026-02-03T05:14:40.9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>
        <p:scale>
          <a:sx n="66" d="100"/>
          <a:sy n="66" d="100"/>
        </p:scale>
        <p:origin x="1224" y="2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1088" y="2720051"/>
            <a:ext cx="10214112" cy="1029405"/>
          </a:xfrm>
        </p:spPr>
        <p:txBody>
          <a:bodyPr>
            <a:normAutofit/>
          </a:bodyPr>
          <a:lstStyle/>
          <a:p>
            <a:r>
              <a:rPr lang="en-US" altLang="en-GB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DSA0613</a:t>
            </a:r>
            <a:r>
              <a:rPr lang="en-I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en-GB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Handing and Visualization for Data Analysis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5995" y="3749456"/>
            <a:ext cx="5248653" cy="2916918"/>
          </a:xfrm>
        </p:spPr>
        <p:txBody>
          <a:bodyPr>
            <a:noAutofit/>
          </a:bodyPr>
          <a:lstStyle/>
          <a:p>
            <a:pPr algn="l"/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 algn="l"/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K.R.Lohithya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(192424154)</a:t>
            </a:r>
          </a:p>
          <a:p>
            <a:pPr algn="l"/>
            <a:r>
              <a:rPr lang="en-US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Y.Raga</a:t>
            </a: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Pranavi(192424219)</a:t>
            </a:r>
            <a:endParaRPr lang="en-US" altLang="en-GB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AIDS</a:t>
            </a:r>
          </a:p>
          <a:p>
            <a:pPr algn="l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Saveetha School of Engineering</a:t>
            </a: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357352" y="3749457"/>
            <a:ext cx="52486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Kumaragurubaran T,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Senthilvadivu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 School Of Engineering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88521-47B3-6B6F-DB09-6BCFF6B1479D}"/>
              </a:ext>
            </a:extLst>
          </p:cNvPr>
          <p:cNvSpPr txBox="1"/>
          <p:nvPr/>
        </p:nvSpPr>
        <p:spPr>
          <a:xfrm>
            <a:off x="1689904" y="319976"/>
            <a:ext cx="84958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4000" b="1" dirty="0">
              <a:latin typeface="Algerian" panose="04020705040A02060702" pitchFamily="82" charset="0"/>
              <a:cs typeface="Times New Roman" panose="02020603050405020304" pitchFamily="18" charset="0"/>
            </a:endParaRPr>
          </a:p>
          <a:p>
            <a:pPr algn="ctr"/>
            <a:r>
              <a:rPr lang="en-US" sz="4000" b="1" dirty="0">
                <a:latin typeface="Algerian" panose="04020705040A02060702" pitchFamily="82" charset="0"/>
                <a:cs typeface="Times New Roman" panose="02020603050405020304" pitchFamily="18" charset="0"/>
              </a:rPr>
              <a:t>Social Media Impact Analysis Through Data Visualization</a:t>
            </a:r>
            <a:endParaRPr lang="en-IN" sz="4000" b="1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352" y="291568"/>
            <a:ext cx="10972800" cy="1143000"/>
          </a:xfrm>
        </p:spPr>
        <p:txBody>
          <a:bodyPr>
            <a:normAutofit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016" y="1794077"/>
            <a:ext cx="10549968" cy="346880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creates large amounts of user interaction data.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data includes likes, comments, and shares.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turns this data into simple charts and graphs.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understand trends and user behavior.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n-US" sz="2400" dirty="0"/>
            </a:b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9920" y="274638"/>
            <a:ext cx="7650480" cy="1143000"/>
          </a:xfrm>
        </p:spPr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5309C20-D786-A5E8-85D2-9804097AAF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95120" y="1931061"/>
            <a:ext cx="8097520" cy="3591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social media engagement data.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likes, comments, and shares.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data using charts and graphs.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trends and user behavior patterns.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better decision-making using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120B030-D346-2529-0E6F-46F6A49616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1689715"/>
            <a:ext cx="109728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Integrating social media data from multiple platforms enables comprehensive and consistent analysis of user engagement.</a:t>
            </a:r>
            <a:b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Reference: Smith, J. &amp; Kumar, R. (2023). Cross-Platform Social Media Data Integration for Analytics.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analysis techniques help identify engagement patterns and trends that are difficult to detect using raw data.</a:t>
            </a:r>
            <a:b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Reference: Chen, M. et al. (2022). Visual Analytics for Social Media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Well-designed charts and dashboards enhance user understanding and support effective decision-making.</a:t>
            </a:r>
            <a:b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Reference: Almasi, S. et al. (2023). Usability Evaluation of Dashboards.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visualization and reporting systems improve efficiency by delivering timely and actionable insights.</a:t>
            </a:r>
            <a:b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Reference: Soni, P. (2024). Automatic Dashboard Recommendation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17224" y="274638"/>
            <a:ext cx="7951809" cy="1143000"/>
          </a:xfrm>
        </p:spPr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/ Architecture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Content Placeholder 1">
            <a:extLst>
              <a:ext uri="{FF2B5EF4-FFF2-40B4-BE49-F238E27FC236}">
                <a16:creationId xmlns:a16="http://schemas.microsoft.com/office/drawing/2014/main" id="{A4FC5DC8-A64D-423B-2DCA-0CEA470F4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52" y="1794076"/>
            <a:ext cx="11109224" cy="40692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66662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	</a:t>
            </a:r>
            <a:r>
              <a:rPr lang="en-US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Module 1: Engagement Amount &amp; Proportion Analysis</a:t>
            </a:r>
            <a:endParaRPr lang="en-US" alt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020" y="2118167"/>
            <a:ext cx="9826907" cy="356500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engagement data (likes, comments, shares, reach).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organize the data before analysis.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 engagement per post or platform.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bar charts and histograms for visualization.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engagement across posts and platforms.</a:t>
            </a: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64" y="530670"/>
            <a:ext cx="109728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for Module-1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4CDA7A-85B9-94F5-3050-83BE16AB18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5974" y="2063747"/>
            <a:ext cx="10625560" cy="3591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total engagement and its distribution across posts/platforms.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proportion of likes, comments, and shares.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easy comparison of engagement performance.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high-performing content and dominant engagement types.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understanding of audience interaction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20676"/>
            <a:ext cx="109728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Relationship &amp; Trend Analysis</a:t>
            </a:r>
            <a:endParaRPr lang="en-US" alt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7306" y="1782500"/>
            <a:ext cx="8160152" cy="4004841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date-wise engagement data.</a:t>
            </a:r>
          </a:p>
          <a:p>
            <a:pPr algn="just">
              <a:lnSpc>
                <a:spcPct val="170000"/>
              </a:lnSpc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relationship between engagement metrics.</a:t>
            </a:r>
          </a:p>
          <a:p>
            <a:pPr algn="just">
              <a:lnSpc>
                <a:spcPct val="170000"/>
              </a:lnSpc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how engagement changes over time.</a:t>
            </a:r>
          </a:p>
          <a:p>
            <a:pPr algn="just">
              <a:lnSpc>
                <a:spcPct val="170000"/>
              </a:lnSpc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increasing or decreasing trends.</a:t>
            </a:r>
          </a:p>
          <a:p>
            <a:pPr algn="just">
              <a:lnSpc>
                <a:spcPct val="170000"/>
              </a:lnSpc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trends across platforms.</a:t>
            </a:r>
          </a:p>
          <a:p>
            <a:pPr algn="just">
              <a:lnSpc>
                <a:spcPct val="170000"/>
              </a:lnSpc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trends using charts.</a:t>
            </a:r>
          </a:p>
          <a:p>
            <a:br>
              <a:rPr lang="en-US" sz="2800" dirty="0"/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" y="512382"/>
            <a:ext cx="109728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for Module-2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24D020-AFCF-1DD0-3B29-FA0A3D53F8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2662" y="1655333"/>
            <a:ext cx="10306793" cy="4970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engagement trends over time.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relationships between likes, comments, and shares.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growth or decline patterns.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compare trends across platforms or posts.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better prediction and planning decisions.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understanding of user behavior changes.</a:t>
            </a:r>
            <a:br>
              <a:rPr lang="en-US" sz="2800" dirty="0"/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5570" y="274638"/>
            <a:ext cx="7616141" cy="1143000"/>
          </a:xfrm>
        </p:spPr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490" y="1534510"/>
            <a:ext cx="10509813" cy="4646372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social media data such as likes, comments, and shares.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data in a structured dataset with dates and platforms.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prepare the data for analysis.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 engagement values.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Engagement Amount &amp; Proportion Analysis (Module 1).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Relationship &amp; Trend Analysis (Module 2).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bar charts and visual dashboards.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results and generate insights.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24C6ECF-43F2-9737-E09E-20860F4E96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88930" y="1733538"/>
            <a:ext cx="5082665" cy="2801482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6D2762-706C-255A-AAC6-BE92B6E2E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9897" y="1667224"/>
            <a:ext cx="5620534" cy="14670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2589DE-E035-D5C3-DB12-7A40E42CF5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9897" y="3154375"/>
            <a:ext cx="5802775" cy="119079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A35ED41-B9C4-A94F-7C3D-299027D3D7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5457" y="4399436"/>
            <a:ext cx="5210902" cy="18481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9812D45-3476-459B-3B56-634F1B7061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892" y="4535021"/>
            <a:ext cx="6058565" cy="15692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output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EC5DA55-EADE-959A-2D8C-DC4C4ACA9A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57352" y="1828800"/>
            <a:ext cx="5641112" cy="4525963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7D1AC9-3303-64D2-DDBE-A6965C115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956" y="1828800"/>
            <a:ext cx="5536692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F4D7F16-0698-A520-649B-FE826D51E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4E451A-94C4-8A57-FC0A-5BE129797D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80" y="2060194"/>
            <a:ext cx="6049120" cy="35998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0360E2-BB5F-666C-88DD-C3B2291C1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123991"/>
            <a:ext cx="5886516" cy="34722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3995" y="391510"/>
            <a:ext cx="7917083" cy="1143000"/>
          </a:xfrm>
        </p:spPr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910" y="1901954"/>
            <a:ext cx="10555224" cy="452596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show that data visualization clearly explains social media engagement patterns.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identifies total engagement levels and the proportion of likes, comments, and shares.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reveals relationships between engagement metrics and trends over time. Overall, visualization helps in understanding user behavior and improving social media strategies.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8128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164466"/>
            <a:ext cx="10972800" cy="3961698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real-time data collection using social media APIs for live analysis.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multiple platforms (Instagram, Facebook, Twitter, YouTube) together.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advanced analytics such as sentiment analysis and user demographics.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machine learning to predict future engagement trends.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interactive dashboards with filters and drill-down features.</a:t>
            </a:r>
          </a:p>
          <a:p>
            <a:pPr marL="0" indent="0" algn="just">
              <a:buNone/>
            </a:pP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8718" y="302388"/>
            <a:ext cx="7396223" cy="1143000"/>
          </a:xfrm>
        </p:spPr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851E6B8-6969-F208-A69D-867068843E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92468" y="2148751"/>
            <a:ext cx="9781819" cy="3246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 may not represent real-world behavior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Manually created data can contain bias or errors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variables reduce depth of analysis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Correlation does not imply causation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large or real-time datasets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488" y="1759353"/>
            <a:ext cx="10972800" cy="482401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helps understand the impact of social media on students’ habits and well-being.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 reveal hidden patterns and trends that are hard to see in raw data.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supports informed decisions and better awareness.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can be improved by using larger, real-world datasets.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06617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Romero, C., Ventura, S., &amp; García, E. (2024). Learning analytics and educational data mining: Trends, challenges, and opportunities. Wiley Interdisciplinary Reviews: Data Mining and Knowledge Discovery, 14(2), e1492.</a:t>
            </a:r>
          </a:p>
          <a:p>
            <a:pPr algn="just"/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Knaflic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 N. (2024). Storytelling with Data: Let’s Practice! Wiley.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OECD. (2024). Education at a Glance 2024: OECD Indicators.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Economic Co-operation and Development.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Pew Research Center. (2024). Social Media Use and Its Impact on Mental Health Among Students. Pew Research Center.</a:t>
            </a: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UNESCO. (2025). Global Education Monitoring Report 2025: Technology, Data, and Learning Outcomes. United Nations Educational, Scientific and Cultural Organization.</a:t>
            </a:r>
          </a:p>
          <a:p>
            <a:endParaRPr lang="en-IN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3685" y="1169043"/>
            <a:ext cx="8924082" cy="39816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                         </a:t>
            </a:r>
          </a:p>
          <a:p>
            <a:pPr marL="0" indent="0" algn="ctr">
              <a:buNone/>
            </a:pPr>
            <a:r>
              <a:rPr lang="en-US" sz="7200" dirty="0">
                <a:latin typeface="Lucida Calligraphy" panose="03010101010101010101" charset="0"/>
                <a:cs typeface="Lucida Calligraphy" panose="03010101010101010101" charset="0"/>
              </a:rPr>
              <a:t>        THANKYOU 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892</Words>
  <Application>Microsoft Office PowerPoint</Application>
  <PresentationFormat>Widescreen</PresentationFormat>
  <Paragraphs>99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Algerian</vt:lpstr>
      <vt:lpstr>Arial</vt:lpstr>
      <vt:lpstr>Calibri</vt:lpstr>
      <vt:lpstr>Lucida Calligraphy</vt:lpstr>
      <vt:lpstr>Times New Roman</vt:lpstr>
      <vt:lpstr>Office Theme</vt:lpstr>
      <vt:lpstr>DSA0613-Data Handing and Visualization for Data Analysis</vt:lpstr>
      <vt:lpstr>Introduction</vt:lpstr>
      <vt:lpstr>Objectives</vt:lpstr>
      <vt:lpstr>Literature Review / Background</vt:lpstr>
      <vt:lpstr>System Design / Architecture</vt:lpstr>
      <vt:lpstr> Module 1: Engagement Amount &amp; Proportion Analysis</vt:lpstr>
      <vt:lpstr>Outcomes for Module-1</vt:lpstr>
      <vt:lpstr>Module 2: Relationship &amp; Trend Analysis</vt:lpstr>
      <vt:lpstr>Outcomes for Module-2</vt:lpstr>
      <vt:lpstr>Methodology</vt:lpstr>
      <vt:lpstr>Implementation</vt:lpstr>
      <vt:lpstr>output</vt:lpstr>
      <vt:lpstr>Output</vt:lpstr>
      <vt:lpstr>Results &amp; Discussion</vt:lpstr>
      <vt:lpstr>Future Scope</vt:lpstr>
      <vt:lpstr>Challenges &amp; Limitations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dc:description>generated using python-pptx</dc:description>
  <cp:lastModifiedBy>kr lohithya</cp:lastModifiedBy>
  <cp:revision>19</cp:revision>
  <dcterms:created xsi:type="dcterms:W3CDTF">2013-01-27T09:14:00Z</dcterms:created>
  <dcterms:modified xsi:type="dcterms:W3CDTF">2026-02-03T05:15:53Z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90DC62E79DC743D6A36E7CC954F351F2_13</vt:lpwstr>
  </property>
  <property fmtid="{D5CDD505-2E9C-101B-9397-08002B2CF9AE}" pid="3" name="KSOProductBuildVer">
    <vt:lpwstr>2057-12.2.0.23158</vt:lpwstr>
  </property>
</Properties>
</file>